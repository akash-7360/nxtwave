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Inter Tight"/>
      <p:regular r:id="rId201315"/>
    </p:embeddedFont>
    <p:embeddedFont>
      <p:font typeface="Inter Tigh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5477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7-DAY STUDENT ACQUISITION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040467"/>
            <a:ext cx="10972526" cy="1325761"/>
          </a:xfrm>
          <a:prstGeom prst="rect">
            <a:avLst/>
          </a:prstGeom>
          <a:noFill/>
          <a:ln/>
        </p:spPr>
        <p:txBody>
          <a:bodyPr wrap="square" lIns="0" tIns="114297" rIns="0" bIns="114297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From 0 Shortlists</a:t>
            </a:r>
            <a:endParaRPr lang="en-US" sz="3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to a Top 1% Candidate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282726"/>
            <a:ext cx="10972526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Bring 500+ engineering students into a career-focused AI placement workshop on a ₹2,000 budget.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879626"/>
            <a:ext cx="5333867" cy="1443335"/>
          </a:xfrm>
          <a:prstGeom prst="roundRect">
            <a:avLst>
              <a:gd name="adj" fmla="val 1108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017367"/>
            <a:ext cx="4876678" cy="914400"/>
          </a:xfrm>
          <a:prstGeom prst="rect">
            <a:avLst/>
          </a:prstGeom>
          <a:noFill/>
          <a:ln/>
        </p:spPr>
        <p:txBody>
          <a:bodyPr wrap="none" lIns="0" tIns="152396" rIns="0" bIns="152396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500+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38179" y="3854351"/>
            <a:ext cx="5105272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engineering students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8244" y="2879626"/>
            <a:ext cx="5333867" cy="1443335"/>
          </a:xfrm>
          <a:prstGeom prst="roundRect">
            <a:avLst>
              <a:gd name="adj" fmla="val 11087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476838" y="3017367"/>
            <a:ext cx="4876678" cy="914400"/>
          </a:xfrm>
          <a:prstGeom prst="rect">
            <a:avLst/>
          </a:prstGeom>
          <a:noFill/>
          <a:ln/>
        </p:spPr>
        <p:txBody>
          <a:bodyPr wrap="none" lIns="0" tIns="152396" rIns="0" bIns="152396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₹2,000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76838" y="3854351"/>
            <a:ext cx="5105272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campaign budget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551561"/>
            <a:ext cx="444489" cy="4445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9585" y="5056386"/>
            <a:ext cx="5257668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Positioning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09585" y="5523111"/>
            <a:ext cx="5257668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Deploy a live industry AI project on your resume in 60 minutes, with interview preparation for ₹8L–₹24L roles.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2" y="4551561"/>
            <a:ext cx="444489" cy="4445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24442" y="5056386"/>
            <a:ext cx="5257668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Audience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324442" y="5523111"/>
            <a:ext cx="5257668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Final-year and pre-final-year students in Tier-2/3 engineering colleges.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74898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BUDGET ALLOCATION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795298"/>
            <a:ext cx="3139401" cy="2422922"/>
          </a:xfrm>
          <a:prstGeom prst="rect">
            <a:avLst/>
          </a:prstGeom>
          <a:noFill/>
          <a:ln/>
        </p:spPr>
        <p:txBody>
          <a:bodyPr wrap="square" lIns="0" tIns="114297" rIns="0" bIns="114297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Put the ₹2,000 behind peer networks, not paid ads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3210917"/>
            <a:ext cx="3139401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Three prioritized channels are projected to deliver 530 registrations at a blended CAC of ₹3.77.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4054773"/>
            <a:ext cx="1493502" cy="1480145"/>
          </a:xfrm>
          <a:prstGeom prst="roundRect">
            <a:avLst>
              <a:gd name="adj" fmla="val 10811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4221834"/>
            <a:ext cx="1036314" cy="60960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530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38179" y="4826298"/>
            <a:ext cx="1036314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projected registrations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55483" y="4054773"/>
            <a:ext cx="1493502" cy="1480145"/>
          </a:xfrm>
          <a:prstGeom prst="roundRect">
            <a:avLst>
              <a:gd name="adj" fmla="val 10811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2484078" y="4221834"/>
            <a:ext cx="1036314" cy="60960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₹3.77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84078" y="4826298"/>
            <a:ext cx="126490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blended CAC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264" y="0"/>
            <a:ext cx="7528431" cy="2184400"/>
          </a:xfrm>
          <a:prstGeom prst="rect">
            <a:avLst/>
          </a:prstGeom>
          <a:solidFill>
            <a:srgbClr val="EEEEF2"/>
          </a:solidFill>
          <a:ln w="19050">
            <a:solidFill>
              <a:srgbClr val="D4D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91898" y="565150"/>
            <a:ext cx="6271163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Student Placement Coordinators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91898" y="970336"/>
            <a:ext cx="1835699" cy="60960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₹1,200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291898" y="1574800"/>
            <a:ext cx="1835699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280 registrations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79894" y="1031875"/>
            <a:ext cx="428316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₹150 bounty to 8 coordinators for verified batch signups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264" y="2336800"/>
            <a:ext cx="7528431" cy="2184400"/>
          </a:xfrm>
          <a:prstGeom prst="rect">
            <a:avLst/>
          </a:prstGeom>
          <a:solidFill>
            <a:srgbClr val="F2F2F2"/>
          </a:solidFill>
          <a:ln w="19050">
            <a:solidFill>
              <a:srgbClr val="D4D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91898" y="2901950"/>
            <a:ext cx="6271163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Placement Survival Kit referral gate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91898" y="3307136"/>
            <a:ext cx="1835699" cy="60960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₹500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291898" y="3911600"/>
            <a:ext cx="1835699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160 registrations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79894" y="3368675"/>
            <a:ext cx="428316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Invite 3 peers to unlock interview Q&amp;As and the drive tracker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264" y="4673600"/>
            <a:ext cx="7528431" cy="2184400"/>
          </a:xfrm>
          <a:prstGeom prst="rect">
            <a:avLst/>
          </a:prstGeom>
          <a:solidFill>
            <a:srgbClr val="F2F2F2"/>
          </a:solidFill>
          <a:ln w="19050">
            <a:solidFill>
              <a:srgbClr val="D4D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91898" y="5238750"/>
            <a:ext cx="6271163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Off-campus communities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91898" y="5643936"/>
            <a:ext cx="1835699" cy="609600"/>
          </a:xfrm>
          <a:prstGeom prst="rect">
            <a:avLst/>
          </a:prstGeom>
          <a:noFill/>
          <a:ln/>
        </p:spPr>
        <p:txBody>
          <a:bodyPr wrap="none" lIns="0" tIns="101598" rIns="0" bIns="101598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₹300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291898" y="6248400"/>
            <a:ext cx="1835699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90 registrations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79894" y="5705475"/>
            <a:ext cx="428316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Through 6 regional Telegram channels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944547" y="6469261"/>
            <a:ext cx="2471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THE 7-DAY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795298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Seven days turn 5,000 impressions into 530 candidates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65176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Seed the asset, activate peer distribution, then use scarcity and reminders to compound registrations.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1865511"/>
            <a:ext cx="6045049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Seven-day sequence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2268418"/>
            <a:ext cx="6045049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D-7 to D-6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2685852"/>
            <a:ext cx="6045049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Recruit 8 placement reps and launch the working asset; target 120 registrations.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585" y="3244929"/>
            <a:ext cx="6045049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D-5 to D-3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5" y="3662363"/>
            <a:ext cx="6045049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Open referrals, activate Telegram communities, and trigger the “110 seats remaining” follow-up; target 425 registrations.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585" y="4221440"/>
            <a:ext cx="6045049" cy="388541"/>
          </a:xfrm>
          <a:prstGeom prst="rect">
            <a:avLst/>
          </a:prstGeom>
          <a:noFill/>
          <a:ln/>
        </p:spPr>
        <p:txBody>
          <a:bodyPr wrap="none" lIns="0" tIns="57149" rIns="0" bIns="57149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D-2 to D-1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585" y="4638873"/>
            <a:ext cx="6045049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Run the ₹500 voucher leaderboard, then lock in admit passes; target 530+ registrations.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327" y="1929011"/>
            <a:ext cx="4622784" cy="357435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59327" y="5582741"/>
            <a:ext cx="4622784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Peer referrals lift 370 direct registrations to 530 total confirmed candidates, with about 360 live attendees.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944547" y="6469261"/>
            <a:ext cx="2471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31" kern="1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THE WORKING ASSET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762133"/>
            <a:ext cx="10972526" cy="671513"/>
          </a:xfrm>
          <a:prstGeom prst="rect">
            <a:avLst/>
          </a:prstGeom>
          <a:noFill/>
          <a:ln/>
        </p:spPr>
        <p:txBody>
          <a:bodyPr wrap="none" lIns="0" tIns="98775" rIns="0" bIns="9877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Make the working asset do the selling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09585" y="1358533"/>
            <a:ext cx="10972526" cy="373063"/>
          </a:xfrm>
          <a:prstGeom prst="rect">
            <a:avLst/>
          </a:prstGeom>
          <a:noFill/>
          <a:ln/>
        </p:spPr>
        <p:txBody>
          <a:bodyPr wrap="none" lIns="0" tIns="54875" rIns="0" bIns="54875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A five-part interactive application replaces a static form and creates value before registration.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09585" y="1739801"/>
            <a:ext cx="5410065" cy="1427758"/>
          </a:xfrm>
          <a:prstGeom prst="roundRect">
            <a:avLst>
              <a:gd name="adj" fmla="val 9685"/>
            </a:avLst>
          </a:prstGeom>
          <a:solidFill>
            <a:srgbClr val="F2F2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82" y="1866801"/>
            <a:ext cx="384066" cy="3840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582" y="2294355"/>
            <a:ext cx="5156071" cy="335657"/>
          </a:xfrm>
          <a:prstGeom prst="rect">
            <a:avLst/>
          </a:prstGeom>
          <a:noFill/>
          <a:ln/>
        </p:spPr>
        <p:txBody>
          <a:bodyPr wrap="none" lIns="0" tIns="49387" rIns="0" bIns="4938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Role and salary matcher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36582" y="2653804"/>
            <a:ext cx="5156071" cy="386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Maps AI roles and ₹8L–₹24L targets to a project architecture and ATS-ready resume bullets.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046" y="1739801"/>
            <a:ext cx="5410065" cy="1427758"/>
          </a:xfrm>
          <a:prstGeom prst="roundRect">
            <a:avLst>
              <a:gd name="adj" fmla="val 9685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042" y="1866801"/>
            <a:ext cx="384066" cy="3840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99042" y="2294355"/>
            <a:ext cx="5156071" cy="335657"/>
          </a:xfrm>
          <a:prstGeom prst="rect">
            <a:avLst/>
          </a:prstGeom>
          <a:noFill/>
          <a:ln/>
        </p:spPr>
        <p:txBody>
          <a:bodyPr wrap="none" lIns="0" tIns="49387" rIns="0" bIns="4938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Shortlist probability estimator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299042" y="2653804"/>
            <a:ext cx="5283068" cy="19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Turns a profile assessment into an immediate “boost” action.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9585" y="3319859"/>
            <a:ext cx="5410065" cy="1427956"/>
          </a:xfrm>
          <a:prstGeom prst="roundRect">
            <a:avLst>
              <a:gd name="adj" fmla="val 9684"/>
            </a:avLst>
          </a:prstGeom>
          <a:solidFill>
            <a:srgbClr val="F2F2F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82" y="3446859"/>
            <a:ext cx="384066" cy="3840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582" y="3874413"/>
            <a:ext cx="5156071" cy="335657"/>
          </a:xfrm>
          <a:prstGeom prst="rect">
            <a:avLst/>
          </a:prstGeom>
          <a:noFill/>
          <a:ln/>
        </p:spPr>
        <p:txBody>
          <a:bodyPr wrap="none" lIns="0" tIns="49387" rIns="0" bIns="4938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Admit pass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736582" y="4233863"/>
            <a:ext cx="5283068" cy="19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Generates a candidate ID, seat number, QR code, and calendar sync.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72046" y="3319859"/>
            <a:ext cx="5410065" cy="1427956"/>
          </a:xfrm>
          <a:prstGeom prst="roundRect">
            <a:avLst>
              <a:gd name="adj" fmla="val 9684"/>
            </a:avLst>
          </a:prstGeom>
          <a:solidFill>
            <a:srgbClr val="F2F2F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042" y="3446859"/>
            <a:ext cx="384066" cy="3840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99042" y="3874413"/>
            <a:ext cx="5156071" cy="335657"/>
          </a:xfrm>
          <a:prstGeom prst="rect">
            <a:avLst/>
          </a:prstGeom>
          <a:noFill/>
          <a:ln/>
        </p:spPr>
        <p:txBody>
          <a:bodyPr wrap="none" lIns="0" tIns="49387" rIns="0" bIns="4938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Referral gate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6299042" y="4233863"/>
            <a:ext cx="5283068" cy="19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Tracks 1/3 → 2/3 → 3/3 invites to unlock the interview kit and drive tracker.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09585" y="4900116"/>
            <a:ext cx="10972526" cy="1427758"/>
          </a:xfrm>
          <a:prstGeom prst="roundRect">
            <a:avLst>
              <a:gd name="adj" fmla="val 9685"/>
            </a:avLst>
          </a:prstGeom>
          <a:solidFill>
            <a:srgbClr val="F2F2F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582" y="5027116"/>
            <a:ext cx="384066" cy="3840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6582" y="5454670"/>
            <a:ext cx="10718532" cy="335657"/>
          </a:xfrm>
          <a:prstGeom prst="rect">
            <a:avLst/>
          </a:prstGeom>
          <a:noFill/>
          <a:ln/>
        </p:spPr>
        <p:txBody>
          <a:bodyPr wrap="none" lIns="0" tIns="49387" rIns="0" bIns="4938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Light and dark mode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736582" y="5814120"/>
            <a:ext cx="10845529" cy="193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Keeps the experience legible across devices.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1944547" y="6469261"/>
            <a:ext cx="24714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ATTENDANCE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795298"/>
            <a:ext cx="10972526" cy="777180"/>
          </a:xfrm>
          <a:prstGeom prst="rect">
            <a:avLst/>
          </a:prstGeom>
          <a:noFill/>
          <a:ln/>
        </p:spPr>
        <p:txBody>
          <a:bodyPr wrap="none" lIns="0" tIns="114297" rIns="0" bIns="114297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Attendance is engineered, not assumed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488976"/>
            <a:ext cx="10972526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Use three WhatsApp touches to push live attendance above 65%.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1955701"/>
            <a:ext cx="3555911" cy="177542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184301"/>
            <a:ext cx="355591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2555776"/>
            <a:ext cx="3098722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Instant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38179" y="3022501"/>
            <a:ext cx="309872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Admit pass plus one-tap Google Calendar sync.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17892" y="1955701"/>
            <a:ext cx="3555911" cy="1775420"/>
          </a:xfrm>
          <a:prstGeom prst="rect">
            <a:avLst/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486" y="2184301"/>
            <a:ext cx="355591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6486" y="2555776"/>
            <a:ext cx="3098722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6C6C6C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D-1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546486" y="3022501"/>
            <a:ext cx="309872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A 30-second Google AI Studio API-key setup task.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26199" y="1955701"/>
            <a:ext cx="3555911" cy="1775420"/>
          </a:xfrm>
          <a:prstGeom prst="rect">
            <a:avLst/>
          </a:prstGeom>
          <a:solidFill>
            <a:srgbClr val="EEEEF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793" y="2184301"/>
            <a:ext cx="355591" cy="355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54793" y="2555776"/>
            <a:ext cx="3098722" cy="431800"/>
          </a:xfrm>
          <a:prstGeom prst="rect">
            <a:avLst/>
          </a:prstGeom>
          <a:noFill/>
          <a:ln/>
        </p:spPr>
        <p:txBody>
          <a:bodyPr wrap="none" lIns="0" tIns="63498" rIns="0" bIns="63498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T-45 minutes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8254793" y="3022501"/>
            <a:ext cx="309872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Doors-open alert with an exclusive first-10-minutes hiring directory.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09585" y="3854946"/>
            <a:ext cx="6492117" cy="147746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3"/>
          <p:cNvSpPr/>
          <p:nvPr/>
        </p:nvSpPr>
        <p:spPr>
          <a:xfrm>
            <a:off x="888978" y="4083546"/>
            <a:ext cx="621272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36" kern="1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DELIBERATE REJECTIONS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88978" y="4376241"/>
            <a:ext cx="5933331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Paid ads, cold-emailing HODs, and generic prompt-engineering messaging were rejected in favor of SPCs, peer distribution, and deployed AI capstones.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253999" y="3992687"/>
            <a:ext cx="4328111" cy="914400"/>
          </a:xfrm>
          <a:prstGeom prst="rect">
            <a:avLst/>
          </a:prstGeom>
          <a:noFill/>
          <a:ln/>
        </p:spPr>
        <p:txBody>
          <a:bodyPr wrap="none" lIns="0" tIns="152396" rIns="0" bIns="152396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562142"/>
                </a:solidFill>
                <a:latin typeface="Inter Tight" pitchFamily="34" charset="0"/>
                <a:ea typeface="Inter Tight" pitchFamily="34" charset="-122"/>
                <a:cs typeface="Inter Tight" pitchFamily="34" charset="0"/>
              </a:rPr>
              <a:t>Above 65%</a:t>
            </a:r>
            <a:endParaRPr lang="en-US" sz="4800" dirty="0"/>
          </a:p>
        </p:txBody>
      </p:sp>
      <p:sp>
        <p:nvSpPr>
          <p:cNvPr id="21" name="Text 16"/>
          <p:cNvSpPr/>
          <p:nvPr/>
        </p:nvSpPr>
        <p:spPr>
          <a:xfrm>
            <a:off x="7253999" y="4863802"/>
            <a:ext cx="4328111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6C6C6C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live attendance target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2026-10-29T12:11:11Z</dcterms:created>
  <dcterms:modified xsi:type="dcterms:W3CDTF">2026-10-29T12:11:11Z</dcterms:modified>
</cp:coreProperties>
</file>